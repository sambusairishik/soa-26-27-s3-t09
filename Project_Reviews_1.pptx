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3"/>
  </p:notesMasterIdLst>
  <p:sldIdLst>
    <p:sldId id="262" r:id="rId3"/>
    <p:sldId id="707" r:id="rId4"/>
    <p:sldId id="257" r:id="rId5"/>
    <p:sldId id="903" r:id="rId6"/>
    <p:sldId id="902" r:id="rId7"/>
    <p:sldId id="258" r:id="rId8"/>
    <p:sldId id="259" r:id="rId9"/>
    <p:sldId id="260" r:id="rId10"/>
    <p:sldId id="904" r:id="rId11"/>
    <p:sldId id="90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B03022-1F30-4885-B78F-22C04F8A973E}" type="doc">
      <dgm:prSet loTypeId="urn:microsoft.com/office/officeart/2005/8/layout/venn3" loCatId="relationship" qsTypeId="urn:microsoft.com/office/officeart/2005/8/quickstyle/3d7" qsCatId="3D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4094C340-BA43-4FE7-BEDC-37D235AAAD16}" type="pres">
      <dgm:prSet presAssocID="{84B03022-1F30-4885-B78F-22C04F8A973E}" presName="Name0" presStyleCnt="0">
        <dgm:presLayoutVars>
          <dgm:dir/>
          <dgm:resizeHandles val="exact"/>
        </dgm:presLayoutVars>
      </dgm:prSet>
      <dgm:spPr/>
    </dgm:pt>
  </dgm:ptLst>
  <dgm:cxnLst>
    <dgm:cxn modelId="{536B444D-E965-4C7A-901B-8D59695FE972}" type="presOf" srcId="{84B03022-1F30-4885-B78F-22C04F8A973E}" destId="{4094C340-BA43-4FE7-BEDC-37D235AAAD16}" srcOrd="0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62C7A-CC9D-4035-A213-68F795EB7A2A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7703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6EA6A-8FF5-49DF-BDDD-F7431B447D8F}" type="datetime3">
              <a:rPr lang="en-US" smtClean="0"/>
              <a:t>15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60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11EB6-9770-43AB-BBCE-044F1DB66B82}" type="datetime3">
              <a:rPr lang="en-US" smtClean="0"/>
              <a:t>15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2983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905DC-9CDD-41AE-979C-F366BC0443ED}" type="datetime3">
              <a:rPr lang="en-US" smtClean="0"/>
              <a:t>15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23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AC05-A025-4B8A-AB88-2AE8812F8A48}" type="datetime3">
              <a:rPr lang="en-US" smtClean="0"/>
              <a:t>15 August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08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D5-6813-455D-BAA0-28A983958C32}" type="datetime3">
              <a:rPr lang="en-US" smtClean="0"/>
              <a:t>15 August 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48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309C4-DF5F-4FAA-9214-A2117415D598}" type="datetime3">
              <a:rPr lang="en-US" smtClean="0"/>
              <a:t>15 August 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4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683E30-D762-4164-BBF9-9799116ED611}" type="datetime3">
              <a:rPr lang="en-US" smtClean="0"/>
              <a:t>15 August 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8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B4AA-F6FE-4EF1-9FE6-D5606E858D35}" type="datetime3">
              <a:rPr lang="en-US" smtClean="0"/>
              <a:t>15 August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7491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547F9-D0DE-4919-BAA4-23065C38E70B}" type="datetime3">
              <a:rPr lang="en-US" smtClean="0"/>
              <a:t>15 August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3319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9772-7494-4C65-A0D8-1FBD740B2E65}" type="datetime3">
              <a:rPr lang="en-US" smtClean="0"/>
              <a:t>15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584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089DC-0019-49C7-8AD2-EF5D896393D8}" type="datetime3">
              <a:rPr lang="en-US" smtClean="0"/>
              <a:t>15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595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27863A-4956-4659-9192-3D74DA4F7578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6266A-CA82-4709-A4C2-B8B2AD8F4816}" type="datetime3">
              <a:rPr lang="en-US" smtClean="0"/>
              <a:t>15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376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65037"/>
              </p:ext>
            </p:extLst>
          </p:nvPr>
        </p:nvGraphicFramePr>
        <p:xfrm>
          <a:off x="8193271" y="4898509"/>
          <a:ext cx="3702050" cy="106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7523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marL="0" algn="ctr" defTabSz="914400" rtl="0" eaLnBrk="1" latinLnBrk="0" hangingPunct="1"/>
                      <a:r>
                        <a:rPr lang="en-IN" sz="16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Chaitanya – 2420030721</a:t>
                      </a:r>
                    </a:p>
                    <a:p>
                      <a:pPr marL="0" algn="ctr" defTabSz="914400" rtl="0" eaLnBrk="1" latinLnBrk="0" hangingPunct="1"/>
                      <a:r>
                        <a:rPr lang="en-IN" sz="16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Sai Rishik -2420030121</a:t>
                      </a:r>
                    </a:p>
                    <a:p>
                      <a:pPr marL="0" algn="ctr" defTabSz="914400" rtl="0" eaLnBrk="1" latinLnBrk="0" hangingPunct="1"/>
                      <a:r>
                        <a:rPr lang="en-IN" sz="16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Vaman - 2420030736</a:t>
                      </a:r>
                      <a:endParaRPr lang="en-IN" sz="1400" b="1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8038280" y="4765558"/>
            <a:ext cx="230240" cy="232995"/>
            <a:chOff x="1567861" y="1613059"/>
            <a:chExt cx="230240" cy="232995"/>
          </a:xfrm>
          <a:solidFill>
            <a:srgbClr val="FF66FF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5251"/>
              </p:ext>
            </p:extLst>
          </p:nvPr>
        </p:nvGraphicFramePr>
        <p:xfrm>
          <a:off x="-795813" y="4774125"/>
          <a:ext cx="5902325" cy="1332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Dr.</a:t>
                      </a:r>
                      <a:r>
                        <a:rPr lang="en-IN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N" sz="14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Venkateswari</a:t>
                      </a:r>
                      <a:r>
                        <a:rPr lang="en-IN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Mam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</a:t>
                      </a:r>
                      <a:r>
                        <a:rPr lang="en-US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Computer Science and Engineering, 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00B0F0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SOA Project Review-1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638175" y="769267"/>
            <a:ext cx="10915650" cy="985640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82FAE-AFAF-27B2-2591-CFAF7695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738187" y="810857"/>
            <a:ext cx="107156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Poppins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738187" y="2246806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SOA Project Review-1</a:t>
            </a:r>
          </a:p>
        </p:txBody>
      </p:sp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0A00F-144B-157D-A12F-7CF90703C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7C6D7-F4DC-4908-B610-D10EE43A9B41}"/>
              </a:ext>
            </a:extLst>
          </p:cNvPr>
          <p:cNvSpPr txBox="1"/>
          <p:nvPr/>
        </p:nvSpPr>
        <p:spPr>
          <a:xfrm>
            <a:off x="3020906" y="173546"/>
            <a:ext cx="5854242" cy="646331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0" normalizeH="0" baseline="0" noProof="0" dirty="0">
                <a:ln w="0"/>
                <a:solidFill>
                  <a:srgbClr val="4472C4"/>
                </a:solidFill>
                <a:effectLst/>
                <a:uLnTx/>
                <a:uFillTx/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Outline of Project Work</a:t>
            </a:r>
          </a:p>
        </p:txBody>
      </p: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C044B753-17EC-8A45-927F-C44CC40ED5BA}"/>
              </a:ext>
            </a:extLst>
          </p:cNvPr>
          <p:cNvGraphicFramePr/>
          <p:nvPr/>
        </p:nvGraphicFramePr>
        <p:xfrm>
          <a:off x="41510" y="115414"/>
          <a:ext cx="1474694" cy="9423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0B4D1914-919F-D842-1FC2-1BBFC0E95C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9380" y="0"/>
            <a:ext cx="1901110" cy="6225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7963BC-9554-1814-3F4E-25105FAA9EA5}"/>
              </a:ext>
            </a:extLst>
          </p:cNvPr>
          <p:cNvSpPr txBox="1"/>
          <p:nvPr/>
        </p:nvSpPr>
        <p:spPr>
          <a:xfrm>
            <a:off x="894737" y="1399980"/>
            <a:ext cx="839674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Introduction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Problem Statement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Research Objectives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Literature Survey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Problem Gap Identification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Innovation, Creativity, and Novelty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Challenges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Feasibility and Project Plan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Conclusion and Future Work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74796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C8F81-5402-FBBE-D32A-834F3C60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BD4C9C-9DEB-26F4-AA75-F51C06DD64DC}"/>
              </a:ext>
            </a:extLst>
          </p:cNvPr>
          <p:cNvSpPr txBox="1"/>
          <p:nvPr/>
        </p:nvSpPr>
        <p:spPr>
          <a:xfrm>
            <a:off x="3991897" y="482232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Problem Statement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A614DC-364B-1BD9-B452-BC2E55FD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20F7F0-B721-6857-9891-658B88D846CE}"/>
              </a:ext>
            </a:extLst>
          </p:cNvPr>
          <p:cNvSpPr txBox="1"/>
          <p:nvPr/>
        </p:nvSpPr>
        <p:spPr>
          <a:xfrm>
            <a:off x="934065" y="1347018"/>
            <a:ext cx="890802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Manual resume screening requires considerable time and effort.</a:t>
            </a:r>
          </a:p>
          <a:p>
            <a:pPr lvl="0"/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Candidate information may be scattered across different files and platforms.</a:t>
            </a:r>
          </a:p>
          <a:p>
            <a:pPr lvl="0"/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Searching and filtering suitable candidates can be difficult.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Tracking candidates through different recruitment stages is challenging.</a:t>
            </a:r>
          </a:p>
          <a:p>
            <a:pPr lvl="0"/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Managing job postings and applications manually can lead to errors.</a:t>
            </a:r>
          </a:p>
          <a:p>
            <a:pPr lvl="0"/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Lack of centralized recruitment information reduces overall hiring efficiency.</a:t>
            </a:r>
          </a:p>
        </p:txBody>
      </p:sp>
    </p:spTree>
    <p:extLst>
      <p:ext uri="{BB962C8B-B14F-4D97-AF65-F5344CB8AC3E}">
        <p14:creationId xmlns:p14="http://schemas.microsoft.com/office/powerpoint/2010/main" val="1843937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AF34-8CFC-8161-A3CD-DED259C92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F508849-A0DD-12D4-FD0D-5322CA138B2F}"/>
              </a:ext>
            </a:extLst>
          </p:cNvPr>
          <p:cNvSpPr txBox="1"/>
          <p:nvPr/>
        </p:nvSpPr>
        <p:spPr>
          <a:xfrm>
            <a:off x="3048000" y="4691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Objectives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C6E66-DFCA-CBBA-3972-F62C5800A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1293DF-E4B7-C248-C230-96A90F4948E5}"/>
              </a:ext>
            </a:extLst>
          </p:cNvPr>
          <p:cNvSpPr txBox="1"/>
          <p:nvPr/>
        </p:nvSpPr>
        <p:spPr>
          <a:xfrm>
            <a:off x="894736" y="1371140"/>
            <a:ext cx="89866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develop a centralized system for managing candidate resumes and recruitment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provide efficient resume uploading, storage, retrieval, and management.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allow HR recruiters to create and manage job postings.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provide candidate search and filtering based on skills, qualifications, and experience.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track candidates throughout different recruitment stages.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reduce repetitive manual activities in the recruitment process.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improve communication between candidates and recruiters through notifications.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 design a scalable and maintainable system using SOA and microservices.</a:t>
            </a:r>
          </a:p>
        </p:txBody>
      </p:sp>
    </p:spTree>
    <p:extLst>
      <p:ext uri="{BB962C8B-B14F-4D97-AF65-F5344CB8AC3E}">
        <p14:creationId xmlns:p14="http://schemas.microsoft.com/office/powerpoint/2010/main" val="391778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ACD11AD-3AF5-B626-2B60-0567E4585BB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59930182"/>
              </p:ext>
            </p:extLst>
          </p:nvPr>
        </p:nvGraphicFramePr>
        <p:xfrm>
          <a:off x="274646" y="689466"/>
          <a:ext cx="11642705" cy="4716077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089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5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65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65714">
                  <a:extLst>
                    <a:ext uri="{9D8B030D-6E8A-4147-A177-3AD203B41FA5}">
                      <a16:colId xmlns:a16="http://schemas.microsoft.com/office/drawing/2014/main" val="1396003017"/>
                    </a:ext>
                  </a:extLst>
                </a:gridCol>
              </a:tblGrid>
              <a:tr h="3879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Authors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Title of the Paper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Methodology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Inferences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Limitation/Future work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193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N" sz="1400" dirty="0"/>
                        <a:t>Gan et al. </a:t>
                      </a:r>
                      <a:endParaRPr lang="en-IN" sz="1400" b="0" i="0" u="none" kern="12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i="1" dirty="0"/>
                        <a:t>Application of LLM Agents in Recruitment: A Novel Framework for Automated Resume Screening</a:t>
                      </a:r>
                      <a:r>
                        <a:rPr lang="en-IN" sz="1400" dirty="0"/>
                        <a:t>, 2024</a:t>
                      </a:r>
                      <a:endParaRPr lang="en-IN" sz="1400" b="1" i="0" kern="12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NLP-based </a:t>
                      </a:r>
                    </a:p>
                    <a:p>
                      <a:pPr marL="0" marR="0" indent="0" algn="just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resume processing </a:t>
                      </a:r>
                    </a:p>
                    <a:p>
                      <a:pPr marL="0" marR="0" indent="0" algn="just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LLM agents for resume summarization, grading and decision-making</a:t>
                      </a:r>
                      <a:endParaRPr lang="en-US" sz="1400" b="0" i="0" kern="12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indent="-285750" algn="just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IN" sz="1400" dirty="0"/>
                        <a:t>The framework automates resume screening and was reported to be </a:t>
                      </a:r>
                      <a:r>
                        <a:rPr lang="en-IN" sz="1400" b="1" dirty="0"/>
                        <a:t>11 times faster</a:t>
                      </a:r>
                      <a:r>
                        <a:rPr lang="en-IN" sz="1400" dirty="0"/>
                        <a:t> than manual screening. Fine-tuned models achieved an </a:t>
                      </a:r>
                      <a:r>
                        <a:rPr lang="en-IN" sz="1400" b="1" dirty="0"/>
                        <a:t>87.73% F1 score</a:t>
                      </a:r>
                      <a:r>
                        <a:rPr lang="en-IN" sz="1400" dirty="0"/>
                        <a:t> for resume sentence classification.</a:t>
                      </a:r>
                      <a:endParaRPr lang="en-US" sz="1400" b="0" i="0" kern="12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IN" sz="1400" dirty="0"/>
                        <a:t>The study focuses mainly on automated resume screening. Future work can integrate screening with complete recruitment workflows such as job posting, application tracking and HR management.</a:t>
                      </a:r>
                      <a:endParaRPr lang="en-US" sz="1400" b="0" i="0" u="none" kern="12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4155954"/>
                  </a:ext>
                </a:extLst>
              </a:tr>
              <a:tr h="13546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N" sz="1400" dirty="0"/>
                        <a:t>Chavan et al. [2]</a:t>
                      </a:r>
                      <a:endParaRPr lang="en-IN" sz="1400" b="0" i="0" u="non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i="1" dirty="0"/>
                        <a:t>Enhancing Recruitment Efficiency: An Advanced Applicant Tracking System (ATS)</a:t>
                      </a:r>
                      <a:r>
                        <a:rPr lang="en-IN" sz="1400" dirty="0"/>
                        <a:t>, 2024</a:t>
                      </a:r>
                      <a:endParaRPr lang="en-IN" sz="1400" b="1" i="0" u="none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Natural Language Processing </a:t>
                      </a:r>
                    </a:p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KNN algorithm </a:t>
                      </a:r>
                    </a:p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Automated resume parsing and classification </a:t>
                      </a:r>
                    </a:p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Applicant tracking</a:t>
                      </a:r>
                      <a:endParaRPr lang="en-US" sz="1400" b="0" i="0" u="non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IN" sz="1400" dirty="0"/>
                        <a:t>The ATS improves recruitment activities including candidate screening, interview scheduling and hiring-process management. </a:t>
                      </a:r>
                      <a:endParaRPr lang="en-US" sz="1400" b="0" i="0" u="non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IN" sz="1400" dirty="0"/>
                        <a:t>The work focuses mainly on ATS functionality. A modular SOA/microservice architecture can improve scalability and independent service management.</a:t>
                      </a:r>
                      <a:endParaRPr lang="en-US" sz="1400" b="0" i="0" u="none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5426370"/>
                  </a:ext>
                </a:extLst>
              </a:tr>
              <a:tr h="13546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N" sz="1400" dirty="0"/>
                        <a:t>Paranthaman et al. [3]</a:t>
                      </a:r>
                      <a:endParaRPr lang="en-IN" sz="1400" b="1" i="0" u="non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i="1" dirty="0"/>
                        <a:t>Resume Screening Automation: Enhancing Recruitment Efficiency with Machine Learning Algorithms</a:t>
                      </a:r>
                      <a:r>
                        <a:rPr lang="en-IN" sz="1400" dirty="0"/>
                        <a:t>, 2024</a:t>
                      </a:r>
                      <a:endParaRPr lang="en-IN" sz="1400" b="1" i="0" u="none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NLP </a:t>
                      </a:r>
                    </a:p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Machine Learning</a:t>
                      </a:r>
                    </a:p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Random Forest </a:t>
                      </a:r>
                    </a:p>
                    <a:p>
                      <a:pPr marL="0" marR="0" indent="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IN" sz="1400" dirty="0"/>
                        <a:t>• Support Vector Machine</a:t>
                      </a:r>
                      <a:endParaRPr lang="en-US" sz="1400" b="0" u="non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indent="-285750" algn="l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IN" sz="1400" dirty="0"/>
                        <a:t>The automated system uses contextual information from resumes and job descriptions and reported </a:t>
                      </a:r>
                      <a:r>
                        <a:rPr lang="en-IN" sz="1400" b="1" dirty="0"/>
                        <a:t>88.3% accuracy, 90.1% precision and 86.7% recall</a:t>
                      </a:r>
                      <a:r>
                        <a:rPr lang="en-IN" sz="1400" dirty="0"/>
                        <a:t>. </a:t>
                      </a:r>
                      <a:endParaRPr lang="en-US" sz="1400" b="0" i="0" u="non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IN" sz="1400" dirty="0"/>
                        <a:t>Automated screening can still face issues related to data imbalance and fairness. Future systems should include human oversight and broader recruitment functionality.</a:t>
                      </a:r>
                      <a:endParaRPr lang="en-US" sz="1400" b="1" i="0" u="none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57501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48F0022-391A-4CFC-2851-87E76B37EAC2}"/>
              </a:ext>
            </a:extLst>
          </p:cNvPr>
          <p:cNvSpPr txBox="1"/>
          <p:nvPr/>
        </p:nvSpPr>
        <p:spPr>
          <a:xfrm>
            <a:off x="4560565" y="136525"/>
            <a:ext cx="30708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64C8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Literature Survey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84944-5437-9E89-7017-F3DB9CA91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A418F-4DEE-4BB1-940B-1145D135750E}" type="slidenum">
              <a:rPr lang="en-IN" smtClean="0"/>
              <a:t>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3EBAEA-8DC6-8F54-F0D6-38F9643BD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277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F2FA-32F2-6715-843F-6ACC796D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00062CA-E93E-DFB0-5A22-1412AB9A6752}"/>
              </a:ext>
            </a:extLst>
          </p:cNvPr>
          <p:cNvSpPr txBox="1"/>
          <p:nvPr/>
        </p:nvSpPr>
        <p:spPr>
          <a:xfrm>
            <a:off x="3048000" y="60007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Problem Gap Identification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77B92A-0C12-D39A-8847-98719E7B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F2375A5-8F85-A925-07CF-D0FE7502D6DD}"/>
              </a:ext>
            </a:extLst>
          </p:cNvPr>
          <p:cNvSpPr txBox="1"/>
          <p:nvPr/>
        </p:nvSpPr>
        <p:spPr>
          <a:xfrm>
            <a:off x="511277" y="1327354"/>
            <a:ext cx="973810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Identified Gaps: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Many traditional recruitment processes depend heavily on manual resume handling.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Candidate and job information may not be maintained in a single centralized system.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Resume management and application tracking are often handled as separate activities.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Recruiters need faster methods to search and filter candidates.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Recruitment systems may lack a flexible service-based architecture.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Communication and application-status updates can be difficult to manage manually.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None/>
            </a:pPr>
            <a:r>
              <a:rPr lang="en-IN" b="1" dirty="0"/>
              <a:t>Proposed Solution:</a:t>
            </a:r>
          </a:p>
          <a:p>
            <a:pPr>
              <a:buNone/>
            </a:pPr>
            <a:r>
              <a:rPr lang="en-IN" dirty="0"/>
              <a:t>The proposed system addresses these gaps by integrating: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Resume Management + Job Posting + Candidate Management + Application Tracking + Notifications</a:t>
            </a:r>
            <a:endParaRPr lang="en-IN" dirty="0"/>
          </a:p>
          <a:p>
            <a:pPr>
              <a:buNone/>
            </a:pPr>
            <a:r>
              <a:rPr lang="en-IN" dirty="0"/>
              <a:t>within a </a:t>
            </a:r>
            <a:r>
              <a:rPr lang="en-IN" b="1" dirty="0"/>
              <a:t>service-oriented and microservice-based architecture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65876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C6D84-077B-7007-4B63-807557EC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387226-F29E-0041-5581-4EF07C7198F1}"/>
              </a:ext>
            </a:extLst>
          </p:cNvPr>
          <p:cNvSpPr txBox="1"/>
          <p:nvPr/>
        </p:nvSpPr>
        <p:spPr>
          <a:xfrm>
            <a:off x="1893060" y="567351"/>
            <a:ext cx="84058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Innovation, Creativity, and Novelty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C5F926-1E4C-4031-B9E9-6A17F126A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7C40B6-B2DD-152B-3C13-27927CB173BF}"/>
              </a:ext>
            </a:extLst>
          </p:cNvPr>
          <p:cNvSpPr txBox="1"/>
          <p:nvPr/>
        </p:nvSpPr>
        <p:spPr>
          <a:xfrm>
            <a:off x="885605" y="1312004"/>
            <a:ext cx="1081478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Innovation: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Uses </a:t>
            </a:r>
            <a:r>
              <a:rPr lang="en-IN" b="1" dirty="0"/>
              <a:t>SOA and microservice architecture</a:t>
            </a:r>
            <a:r>
              <a:rPr lang="en-IN" dirty="0"/>
              <a:t> for recruitment management.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Divides the system into independent services.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Provides centralized resume and candidate management.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Supports structured application tracking.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None/>
            </a:pPr>
            <a:r>
              <a:rPr lang="en-IN" b="1" dirty="0"/>
              <a:t>Creativity: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Simple interface for both candidates and HR recruiters.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Candidate search and filtering based on relevant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Organized recruitment workflow from application to selection.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Automated notifications for important application updates.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None/>
            </a:pPr>
            <a:r>
              <a:rPr lang="en-IN" b="1" dirty="0"/>
              <a:t>Novelty:</a:t>
            </a:r>
          </a:p>
          <a:p>
            <a:pPr>
              <a:buNone/>
            </a:pPr>
            <a:r>
              <a:rPr lang="en-IN" dirty="0"/>
              <a:t>The key novelty of the proposed system is the </a:t>
            </a:r>
            <a:r>
              <a:rPr lang="en-IN" b="1" dirty="0"/>
              <a:t>integration of resume management and complete recruitment workflow into a modular microservice-based platform</a:t>
            </a:r>
            <a:r>
              <a:rPr lang="en-IN" dirty="0"/>
              <a:t>.</a:t>
            </a:r>
          </a:p>
          <a:p>
            <a:pPr>
              <a:buNone/>
            </a:pPr>
            <a:r>
              <a:rPr lang="en-IN" dirty="0"/>
              <a:t>The architecture allows individual services such as Resume Management, Job Posting, Candidate Management, and Application Tracking to be developed and maintained independently.</a:t>
            </a:r>
          </a:p>
        </p:txBody>
      </p:sp>
    </p:spTree>
    <p:extLst>
      <p:ext uri="{BB962C8B-B14F-4D97-AF65-F5344CB8AC3E}">
        <p14:creationId xmlns:p14="http://schemas.microsoft.com/office/powerpoint/2010/main" val="352413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A2CC-2C9A-D968-2F38-FFC4A7D23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F7CE10-08D9-83CF-7508-12575531E1E0}"/>
              </a:ext>
            </a:extLst>
          </p:cNvPr>
          <p:cNvSpPr txBox="1"/>
          <p:nvPr/>
        </p:nvSpPr>
        <p:spPr>
          <a:xfrm>
            <a:off x="2615380" y="551058"/>
            <a:ext cx="723401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Feasibility and Project Plan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71D25F-D310-56FA-A58E-B7B79C7D8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574E20-6BA1-E764-B554-8A62742C6BD4}"/>
              </a:ext>
            </a:extLst>
          </p:cNvPr>
          <p:cNvSpPr txBox="1"/>
          <p:nvPr/>
        </p:nvSpPr>
        <p:spPr>
          <a:xfrm>
            <a:off x="806245" y="1376515"/>
            <a:ext cx="944313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Feasibility</a:t>
            </a:r>
          </a:p>
          <a:p>
            <a:pPr>
              <a:buNone/>
            </a:pPr>
            <a:r>
              <a:rPr lang="en-IN" b="1" dirty="0"/>
              <a:t>Technical Feasibility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Can be implemented using web technologies and REST APIs.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Microservices can be developed and tested independently.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Database systems can be used for structured candidate and recruitment data.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None/>
            </a:pPr>
            <a:r>
              <a:rPr lang="en-IN" b="1" dirty="0"/>
              <a:t>Economic Feasibility</a:t>
            </a:r>
          </a:p>
          <a:p>
            <a:pPr>
              <a:buNone/>
            </a:pP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project can be developed using open-source development tools and frameworks.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No expensive hardware is required.</a:t>
            </a:r>
          </a:p>
          <a:p>
            <a:pPr>
              <a:buNone/>
            </a:pPr>
            <a:r>
              <a:rPr lang="en-IN" b="1" dirty="0"/>
              <a:t>Operational Feasibility</a:t>
            </a:r>
          </a:p>
          <a:p>
            <a:pPr>
              <a:buNone/>
            </a:pP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Candidates can easily upload resumes and apply for jobs.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HR recruiters can manage job postings, candidates, and applications through a centralized interface.</a:t>
            </a:r>
          </a:p>
        </p:txBody>
      </p:sp>
    </p:spTree>
    <p:extLst>
      <p:ext uri="{BB962C8B-B14F-4D97-AF65-F5344CB8AC3E}">
        <p14:creationId xmlns:p14="http://schemas.microsoft.com/office/powerpoint/2010/main" val="4118855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C5227D-7DED-2BBF-03C1-81283F33AC6F}"/>
              </a:ext>
            </a:extLst>
          </p:cNvPr>
          <p:cNvSpPr txBox="1"/>
          <p:nvPr/>
        </p:nvSpPr>
        <p:spPr>
          <a:xfrm>
            <a:off x="884903" y="373626"/>
            <a:ext cx="8239432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/>
              <a:t>Project Plan</a:t>
            </a:r>
          </a:p>
          <a:p>
            <a:pPr>
              <a:buNone/>
            </a:pPr>
            <a:r>
              <a:rPr lang="en-IN" b="1" dirty="0"/>
              <a:t>Phase 1 – Requirement Analysis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Identify candidate and HR requirements.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Define system modules and workflow.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30491E-BCAD-5CFC-34A0-0D3E44304958}"/>
              </a:ext>
            </a:extLst>
          </p:cNvPr>
          <p:cNvSpPr txBox="1"/>
          <p:nvPr/>
        </p:nvSpPr>
        <p:spPr>
          <a:xfrm>
            <a:off x="884903" y="1604732"/>
            <a:ext cx="10815484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Phase 2 – System Design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Design SOA/microservice architecture.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Design database and API structure.</a:t>
            </a:r>
          </a:p>
          <a:p>
            <a:pPr>
              <a:buNone/>
            </a:pPr>
            <a:r>
              <a:rPr lang="en-IN" b="1" dirty="0"/>
              <a:t>Phase 3 – Development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Develop authentication and user management.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Develop job posting and resume management services.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Develop candidate and application tracking services.</a:t>
            </a:r>
          </a:p>
          <a:p>
            <a:pPr>
              <a:buNone/>
            </a:pPr>
            <a:r>
              <a:rPr lang="en-IN" b="1" dirty="0"/>
              <a:t>Phase 4 – Integration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Connect services through APIs/API Gateway.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Integrate database and notification services.</a:t>
            </a:r>
          </a:p>
          <a:p>
            <a:pPr>
              <a:buNone/>
            </a:pPr>
            <a:r>
              <a:rPr lang="en-IN" b="1" dirty="0"/>
              <a:t>Phase 5 – Testing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Perform unit, integration, and system testing.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Identify and fix errors.</a:t>
            </a:r>
          </a:p>
          <a:p>
            <a:pPr>
              <a:buNone/>
            </a:pPr>
            <a:r>
              <a:rPr lang="en-IN" b="1" dirty="0"/>
              <a:t>Phase 6 – Deployment &amp; Evaluation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Deploy the application.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Evaluate system performance and usability.</a:t>
            </a:r>
          </a:p>
          <a:p>
            <a:pPr>
              <a:buNone/>
            </a:pPr>
            <a:r>
              <a:rPr lang="en-IN" b="1" dirty="0"/>
              <a:t>Expected Outcome</a:t>
            </a:r>
          </a:p>
          <a:p>
            <a:pPr>
              <a:buNone/>
            </a:pPr>
            <a:r>
              <a:rPr lang="en-IN" dirty="0"/>
              <a:t>A centralized, scalable, and efficient recruitment platform that reduces manual resume management and helps HR recruiters manage candidates and hiring activities more effectively.</a:t>
            </a:r>
          </a:p>
        </p:txBody>
      </p:sp>
    </p:spTree>
    <p:extLst>
      <p:ext uri="{BB962C8B-B14F-4D97-AF65-F5344CB8AC3E}">
        <p14:creationId xmlns:p14="http://schemas.microsoft.com/office/powerpoint/2010/main" val="1338524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546B9-3AC3-24D8-A5E3-BD6DB22B1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496"/>
            <a:ext cx="12192000" cy="647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551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941</Words>
  <Application>Microsoft Office PowerPoint</Application>
  <PresentationFormat>Widescreen</PresentationFormat>
  <Paragraphs>153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</dc:creator>
  <cp:lastModifiedBy>Sambu Sai Rishik</cp:lastModifiedBy>
  <cp:revision>33</cp:revision>
  <dcterms:created xsi:type="dcterms:W3CDTF">2026-08-08T06:33:56Z</dcterms:created>
  <dcterms:modified xsi:type="dcterms:W3CDTF">2026-08-15T06:58:44Z</dcterms:modified>
</cp:coreProperties>
</file>